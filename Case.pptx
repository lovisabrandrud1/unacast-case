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21"/>
  </p:notesMasterIdLst>
  <p:sldIdLst>
    <p:sldId id="256" r:id="rId2"/>
    <p:sldId id="263" r:id="rId3"/>
    <p:sldId id="258" r:id="rId4"/>
    <p:sldId id="268" r:id="rId5"/>
    <p:sldId id="264" r:id="rId6"/>
    <p:sldId id="270" r:id="rId7"/>
    <p:sldId id="271" r:id="rId8"/>
    <p:sldId id="272" r:id="rId9"/>
    <p:sldId id="275" r:id="rId10"/>
    <p:sldId id="273" r:id="rId11"/>
    <p:sldId id="274" r:id="rId12"/>
    <p:sldId id="276" r:id="rId13"/>
    <p:sldId id="261" r:id="rId14"/>
    <p:sldId id="257" r:id="rId15"/>
    <p:sldId id="259" r:id="rId16"/>
    <p:sldId id="260" r:id="rId17"/>
    <p:sldId id="269" r:id="rId18"/>
    <p:sldId id="267" r:id="rId19"/>
    <p:sldId id="26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16"/>
    <p:restoredTop sz="81696"/>
  </p:normalViewPr>
  <p:slideViewPr>
    <p:cSldViewPr snapToGrid="0" snapToObjects="1">
      <p:cViewPr varScale="1">
        <p:scale>
          <a:sx n="146" d="100"/>
          <a:sy n="146" d="100"/>
        </p:scale>
        <p:origin x="19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0C6ECA-74F0-CF46-91B3-541A177666E1}" type="datetimeFigureOut">
              <a:rPr lang="en-US" smtClean="0"/>
              <a:t>1/5/20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8FC45-36FF-384A-9D94-C2E73FEBF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978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F8FC45-36FF-384A-9D94-C2E73FEBF0D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888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Disse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temperaturene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ser</a:t>
            </a:r>
            <a:r>
              <a:rPr lang="en-US" baseline="0" dirty="0" smtClean="0"/>
              <a:t> vi </a:t>
            </a:r>
            <a:r>
              <a:rPr lang="en-US" baseline="0" dirty="0" err="1" smtClean="0"/>
              <a:t>hovedsaklig</a:t>
            </a:r>
            <a:r>
              <a:rPr lang="en-US" baseline="0" dirty="0" smtClean="0"/>
              <a:t> I </a:t>
            </a:r>
            <a:r>
              <a:rPr lang="en-US" baseline="0" dirty="0" err="1" smtClean="0"/>
              <a:t>desember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F8FC45-36FF-384A-9D94-C2E73FEBF0D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285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Based on data</a:t>
            </a:r>
            <a:r>
              <a:rPr lang="en-US" baseline="0" dirty="0" smtClean="0"/>
              <a:t> from 2017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F8FC45-36FF-384A-9D94-C2E73FEBF0D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212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Based on data</a:t>
            </a:r>
            <a:r>
              <a:rPr lang="en-US" baseline="0" dirty="0" smtClean="0"/>
              <a:t> from 2017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F8FC45-36FF-384A-9D94-C2E73FEBF0D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5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Based on data</a:t>
            </a:r>
            <a:r>
              <a:rPr lang="en-US" baseline="0" dirty="0" smtClean="0"/>
              <a:t> from 2017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F8FC45-36FF-384A-9D94-C2E73FEBF0D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920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Additional information: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Add current number of bikes into the equation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Add temperature</a:t>
            </a:r>
            <a:r>
              <a:rPr lang="en-US" baseline="0" dirty="0"/>
              <a:t> </a:t>
            </a:r>
            <a:r>
              <a:rPr lang="en-US" baseline="0" dirty="0" smtClean="0"/>
              <a:t>(categorical, linear, more advanced distribution)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wind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Holidays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Festivals, 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etc</a:t>
            </a:r>
            <a:endParaRPr lang="en-US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n-US" sz="1200" b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greatest challenges is still the fact that we here assume unlimited supply of bikes and docks, this is not the case in reality and can give a shifted picture </a:t>
            </a:r>
            <a:endParaRPr lang="en-US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F8FC45-36FF-384A-9D94-C2E73FEBF0D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650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393C0-0ADA-B849-A24F-EE7C8EEF9322}" type="datetimeFigureOut">
              <a:rPr lang="en-US" smtClean="0"/>
              <a:t>12/29/19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0FAA-0211-7649-9EBB-3B7396E2AE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393C0-0ADA-B849-A24F-EE7C8EEF9322}" type="datetimeFigureOut">
              <a:rPr lang="en-US" smtClean="0"/>
              <a:t>12/29/19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0FAA-0211-7649-9EBB-3B7396E2AE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393C0-0ADA-B849-A24F-EE7C8EEF9322}" type="datetimeFigureOut">
              <a:rPr lang="en-US" smtClean="0"/>
              <a:t>12/29/19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0FAA-0211-7649-9EBB-3B7396E2AE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393C0-0ADA-B849-A24F-EE7C8EEF9322}" type="datetimeFigureOut">
              <a:rPr lang="en-US" smtClean="0"/>
              <a:t>12/29/19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0FAA-0211-7649-9EBB-3B7396E2AE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393C0-0ADA-B849-A24F-EE7C8EEF9322}" type="datetimeFigureOut">
              <a:rPr lang="en-US" smtClean="0"/>
              <a:t>12/29/19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0FAA-0211-7649-9EBB-3B7396E2AE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393C0-0ADA-B849-A24F-EE7C8EEF9322}" type="datetimeFigureOut">
              <a:rPr lang="en-US" smtClean="0"/>
              <a:t>12/29/19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0FAA-0211-7649-9EBB-3B7396E2AE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393C0-0ADA-B849-A24F-EE7C8EEF9322}" type="datetimeFigureOut">
              <a:rPr lang="en-US" smtClean="0"/>
              <a:t>12/29/19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0FAA-0211-7649-9EBB-3B7396E2AE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393C0-0ADA-B849-A24F-EE7C8EEF9322}" type="datetimeFigureOut">
              <a:rPr lang="en-US" smtClean="0"/>
              <a:t>12/29/19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0FAA-0211-7649-9EBB-3B7396E2AE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393C0-0ADA-B849-A24F-EE7C8EEF9322}" type="datetimeFigureOut">
              <a:rPr lang="en-US" smtClean="0"/>
              <a:t>12/29/19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0FAA-0211-7649-9EBB-3B7396E2AE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393C0-0ADA-B849-A24F-EE7C8EEF9322}" type="datetimeFigureOut">
              <a:rPr lang="en-US" smtClean="0"/>
              <a:t>12/29/19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0FAA-0211-7649-9EBB-3B7396E2AE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393C0-0ADA-B849-A24F-EE7C8EEF9322}" type="datetimeFigureOut">
              <a:rPr lang="en-US" smtClean="0"/>
              <a:t>12/29/19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0FAA-0211-7649-9EBB-3B7396E2AE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393C0-0ADA-B849-A24F-EE7C8EEF9322}" type="datetimeFigureOut">
              <a:rPr lang="en-US" smtClean="0"/>
              <a:t>12/29/19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A0FAA-0211-7649-9EBB-3B7396E2A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09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Unacast</a:t>
            </a:r>
            <a:r>
              <a:rPr lang="en-US" dirty="0" smtClean="0"/>
              <a:t> case presentation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Lovisa Brandrud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14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New York </a:t>
            </a:r>
            <a:r>
              <a:rPr lang="en-US" dirty="0" err="1" smtClean="0"/>
              <a:t>Citibike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mr-IN" sz="4000" dirty="0" smtClean="0"/>
              <a:t>–</a:t>
            </a:r>
            <a:r>
              <a:rPr lang="en-US" sz="4000" dirty="0" smtClean="0"/>
              <a:t> Insights about areas and usage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251682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049"/>
          </a:xfrm>
        </p:spPr>
        <p:txBody>
          <a:bodyPr>
            <a:normAutofit/>
          </a:bodyPr>
          <a:lstStyle/>
          <a:p>
            <a:r>
              <a:rPr lang="en-US" dirty="0" smtClean="0"/>
              <a:t>We have the same tendency across all years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27"/>
          <a:stretch/>
        </p:blipFill>
        <p:spPr>
          <a:xfrm>
            <a:off x="1066800" y="1060174"/>
            <a:ext cx="10058400" cy="540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48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04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Weekdays show two peaks </a:t>
            </a:r>
            <a:r>
              <a:rPr lang="mr-IN" dirty="0" smtClean="0"/>
              <a:t>–</a:t>
            </a:r>
            <a:r>
              <a:rPr lang="en-US" dirty="0" smtClean="0"/>
              <a:t> one around 08.30 and a broader one around 18.00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85531" y="6488668"/>
            <a:ext cx="3856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Based on trips in 2017 and 2018</a:t>
            </a:r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913" y="1825625"/>
            <a:ext cx="7030174" cy="4351338"/>
          </a:xfrm>
        </p:spPr>
      </p:pic>
    </p:spTree>
    <p:extLst>
      <p:ext uri="{BB962C8B-B14F-4D97-AF65-F5344CB8AC3E}">
        <p14:creationId xmlns:p14="http://schemas.microsoft.com/office/powerpoint/2010/main" val="93692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049"/>
          </a:xfrm>
        </p:spPr>
        <p:txBody>
          <a:bodyPr>
            <a:normAutofit/>
          </a:bodyPr>
          <a:lstStyle/>
          <a:p>
            <a:r>
              <a:rPr lang="en-US" dirty="0" smtClean="0"/>
              <a:t>Males account for around 2/3 of all trips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85531" y="6488668"/>
            <a:ext cx="3856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Based on trips in 2017 and 2018</a:t>
            </a:r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572" y="1825625"/>
            <a:ext cx="6980856" cy="4351338"/>
          </a:xfrm>
        </p:spPr>
      </p:pic>
    </p:spTree>
    <p:extLst>
      <p:ext uri="{BB962C8B-B14F-4D97-AF65-F5344CB8AC3E}">
        <p14:creationId xmlns:p14="http://schemas.microsoft.com/office/powerpoint/2010/main" val="180456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049"/>
          </a:xfrm>
        </p:spPr>
        <p:txBody>
          <a:bodyPr>
            <a:normAutofit/>
          </a:bodyPr>
          <a:lstStyle/>
          <a:p>
            <a:r>
              <a:rPr lang="en-US" dirty="0" smtClean="0"/>
              <a:t>Rain does not have a great impact on demand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85531" y="6488668"/>
            <a:ext cx="3856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Based on trips in 2016</a:t>
            </a:r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907" y="1782082"/>
            <a:ext cx="7026186" cy="4351338"/>
          </a:xfrm>
        </p:spPr>
      </p:pic>
    </p:spTree>
    <p:extLst>
      <p:ext uri="{BB962C8B-B14F-4D97-AF65-F5344CB8AC3E}">
        <p14:creationId xmlns:p14="http://schemas.microsoft.com/office/powerpoint/2010/main" val="1130928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049"/>
          </a:xfrm>
        </p:spPr>
        <p:txBody>
          <a:bodyPr>
            <a:normAutofit/>
          </a:bodyPr>
          <a:lstStyle/>
          <a:p>
            <a:r>
              <a:rPr lang="en-US" dirty="0" smtClean="0"/>
              <a:t>Temperature affect usage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85531" y="6488668"/>
            <a:ext cx="3856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Based on trips in 2016</a:t>
            </a:r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792" y="1825625"/>
            <a:ext cx="7286415" cy="4351338"/>
          </a:xfrm>
        </p:spPr>
      </p:pic>
    </p:spTree>
    <p:extLst>
      <p:ext uri="{BB962C8B-B14F-4D97-AF65-F5344CB8AC3E}">
        <p14:creationId xmlns:p14="http://schemas.microsoft.com/office/powerpoint/2010/main" val="1143178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049"/>
          </a:xfrm>
        </p:spPr>
        <p:txBody>
          <a:bodyPr>
            <a:noAutofit/>
          </a:bodyPr>
          <a:lstStyle/>
          <a:p>
            <a:r>
              <a:rPr lang="en-US" sz="3200" dirty="0" smtClean="0"/>
              <a:t>Average number of trips </a:t>
            </a:r>
            <a:r>
              <a:rPr lang="en-US" sz="3200" dirty="0" smtClean="0"/>
              <a:t>per day</a:t>
            </a:r>
            <a:r>
              <a:rPr lang="en-US" sz="3200" dirty="0" smtClean="0"/>
              <a:t> originating in the census tract</a:t>
            </a:r>
            <a:endParaRPr lang="en-US" sz="32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3" r="5125" b="1316"/>
          <a:stretch/>
        </p:blipFill>
        <p:spPr>
          <a:xfrm>
            <a:off x="2536807" y="1397868"/>
            <a:ext cx="3010212" cy="50908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1766" y="1397868"/>
            <a:ext cx="3015253" cy="520510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7975" y="1325631"/>
            <a:ext cx="1567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Absolute</a:t>
            </a:r>
          </a:p>
          <a:p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027" y="1397868"/>
            <a:ext cx="2950719" cy="5090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027" y="1397867"/>
            <a:ext cx="2950719" cy="519806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92484" y="1325631"/>
            <a:ext cx="15675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Normalized per station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035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 err="1" smtClean="0"/>
              <a:t>What</a:t>
            </a:r>
            <a:r>
              <a:rPr lang="nb-NO" dirty="0" smtClean="0"/>
              <a:t> </a:t>
            </a:r>
            <a:r>
              <a:rPr lang="nb-NO" dirty="0" err="1" smtClean="0"/>
              <a:t>now</a:t>
            </a:r>
            <a:r>
              <a:rPr lang="nb-NO" dirty="0" smtClean="0"/>
              <a:t>?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292808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3" r="5125" b="1316"/>
          <a:stretch/>
        </p:blipFill>
        <p:spPr>
          <a:xfrm>
            <a:off x="2536807" y="1397868"/>
            <a:ext cx="3010212" cy="50908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049"/>
          </a:xfrm>
        </p:spPr>
        <p:txBody>
          <a:bodyPr>
            <a:normAutofit/>
          </a:bodyPr>
          <a:lstStyle/>
          <a:p>
            <a:r>
              <a:rPr lang="en-US" dirty="0" smtClean="0"/>
              <a:t>A tool for estimating </a:t>
            </a:r>
            <a:r>
              <a:rPr lang="en-US" dirty="0" smtClean="0"/>
              <a:t>demand for </a:t>
            </a:r>
            <a:r>
              <a:rPr lang="en-US" dirty="0" smtClean="0"/>
              <a:t>bikes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027" y="1397868"/>
            <a:ext cx="2950719" cy="5090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7975" y="1325631"/>
            <a:ext cx="15675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Wednesday</a:t>
            </a:r>
            <a:endParaRPr lang="en-US" dirty="0" smtClean="0"/>
          </a:p>
          <a:p>
            <a:r>
              <a:rPr lang="en-US" dirty="0" smtClean="0"/>
              <a:t>08-09 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892484" y="1325631"/>
            <a:ext cx="15675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Wednesday</a:t>
            </a:r>
          </a:p>
          <a:p>
            <a:r>
              <a:rPr lang="en-US" dirty="0" smtClean="0"/>
              <a:t>18-19 </a:t>
            </a:r>
          </a:p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127569" y="3039291"/>
            <a:ext cx="2751909" cy="213888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2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765" y="3721537"/>
            <a:ext cx="2255518" cy="1346962"/>
          </a:xfrm>
        </p:spPr>
      </p:pic>
      <p:sp>
        <p:nvSpPr>
          <p:cNvPr id="7" name="TextBox 6"/>
          <p:cNvSpPr txBox="1"/>
          <p:nvPr/>
        </p:nvSpPr>
        <p:spPr>
          <a:xfrm>
            <a:off x="5570835" y="3039291"/>
            <a:ext cx="1802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&lt; 10 degrees </a:t>
            </a:r>
          </a:p>
          <a:p>
            <a:pPr algn="ctr"/>
            <a:r>
              <a:rPr lang="en-US" dirty="0" smtClean="0">
                <a:solidFill>
                  <a:schemeClr val="tx2"/>
                </a:solidFill>
                <a:sym typeface="Wingdings"/>
              </a:rPr>
              <a:t> 50% demand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584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049"/>
          </a:xfrm>
        </p:spPr>
        <p:txBody>
          <a:bodyPr>
            <a:normAutofit/>
          </a:bodyPr>
          <a:lstStyle/>
          <a:p>
            <a:r>
              <a:rPr lang="en-US" dirty="0" smtClean="0"/>
              <a:t>A tool for estimating </a:t>
            </a:r>
            <a:r>
              <a:rPr lang="en-US" dirty="0" smtClean="0"/>
              <a:t>demand for </a:t>
            </a:r>
            <a:r>
              <a:rPr lang="en-US" dirty="0" smtClean="0"/>
              <a:t>docks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87975" y="1325631"/>
            <a:ext cx="15675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Wednesday</a:t>
            </a:r>
            <a:endParaRPr lang="en-US" dirty="0" smtClean="0"/>
          </a:p>
          <a:p>
            <a:r>
              <a:rPr lang="en-US" dirty="0" smtClean="0"/>
              <a:t>08-09 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892484" y="1325631"/>
            <a:ext cx="15675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Wednesday</a:t>
            </a:r>
          </a:p>
          <a:p>
            <a:r>
              <a:rPr lang="en-US" dirty="0" smtClean="0"/>
              <a:t>18-19 </a:t>
            </a:r>
          </a:p>
          <a:p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027" y="1397868"/>
            <a:ext cx="2950719" cy="5090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3" t="1733"/>
          <a:stretch/>
        </p:blipFill>
        <p:spPr>
          <a:xfrm>
            <a:off x="7460027" y="1397868"/>
            <a:ext cx="3134085" cy="50908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3" r="5125" b="1316"/>
          <a:stretch/>
        </p:blipFill>
        <p:spPr>
          <a:xfrm>
            <a:off x="2536807" y="1397868"/>
            <a:ext cx="3010212" cy="5090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1"/>
          <a:stretch/>
        </p:blipFill>
        <p:spPr>
          <a:xfrm>
            <a:off x="2536807" y="1397868"/>
            <a:ext cx="3104530" cy="50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781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049"/>
          </a:xfrm>
        </p:spPr>
        <p:txBody>
          <a:bodyPr>
            <a:normAutofit/>
          </a:bodyPr>
          <a:lstStyle/>
          <a:p>
            <a:r>
              <a:rPr lang="en-US" sz="4000" dirty="0" smtClean="0"/>
              <a:t>A tool for estimating net demand</a:t>
            </a:r>
            <a:endParaRPr lang="en-US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687975" y="1325631"/>
            <a:ext cx="15675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Wednesday</a:t>
            </a:r>
            <a:endParaRPr lang="en-US" dirty="0" smtClean="0"/>
          </a:p>
          <a:p>
            <a:r>
              <a:rPr lang="en-US" dirty="0" smtClean="0"/>
              <a:t>08-09 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892484" y="1325631"/>
            <a:ext cx="15675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Wednesday</a:t>
            </a:r>
          </a:p>
          <a:p>
            <a:r>
              <a:rPr lang="en-US" dirty="0" smtClean="0"/>
              <a:t>18-19 </a:t>
            </a:r>
          </a:p>
          <a:p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027" y="1397868"/>
            <a:ext cx="2950719" cy="5090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3" t="1733"/>
          <a:stretch/>
        </p:blipFill>
        <p:spPr>
          <a:xfrm>
            <a:off x="7460027" y="1397868"/>
            <a:ext cx="3134085" cy="50908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3" r="5125" b="1316"/>
          <a:stretch/>
        </p:blipFill>
        <p:spPr>
          <a:xfrm>
            <a:off x="2536807" y="1397868"/>
            <a:ext cx="3010212" cy="5090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1"/>
          <a:stretch/>
        </p:blipFill>
        <p:spPr>
          <a:xfrm>
            <a:off x="2536807" y="1397868"/>
            <a:ext cx="3104530" cy="50908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6806" y="1397868"/>
            <a:ext cx="3261360" cy="510231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0027" y="1397868"/>
            <a:ext cx="3134085" cy="51023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4169" y="5233352"/>
            <a:ext cx="21792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Red</a:t>
            </a:r>
            <a:r>
              <a:rPr lang="en-US" sz="1400" dirty="0" smtClean="0"/>
              <a:t> = Too many bikes</a:t>
            </a:r>
          </a:p>
          <a:p>
            <a:r>
              <a:rPr lang="en-US" sz="1400" dirty="0" smtClean="0">
                <a:solidFill>
                  <a:schemeClr val="accent6">
                    <a:lumMod val="75000"/>
                  </a:schemeClr>
                </a:solidFill>
              </a:rPr>
              <a:t>Green</a:t>
            </a:r>
            <a:r>
              <a:rPr lang="en-US" sz="1400" dirty="0" smtClean="0"/>
              <a:t> = Need more bikes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45522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049"/>
          </a:xfrm>
        </p:spPr>
        <p:txBody>
          <a:bodyPr>
            <a:normAutofit/>
          </a:bodyPr>
          <a:lstStyle/>
          <a:p>
            <a:r>
              <a:rPr lang="en-US" dirty="0" smtClean="0"/>
              <a:t>Most trips are taken by people in their 30</a:t>
            </a:r>
            <a:r>
              <a:rPr lang="en-US" baseline="30000" dirty="0"/>
              <a:t>'</a:t>
            </a:r>
            <a:r>
              <a:rPr lang="en-US" dirty="0" smtClean="0"/>
              <a:t>s</a:t>
            </a:r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317" y="1825625"/>
            <a:ext cx="6989366" cy="4351338"/>
          </a:xfrm>
        </p:spPr>
      </p:pic>
      <p:sp>
        <p:nvSpPr>
          <p:cNvPr id="9" name="TextBox 8"/>
          <p:cNvSpPr txBox="1"/>
          <p:nvPr/>
        </p:nvSpPr>
        <p:spPr>
          <a:xfrm>
            <a:off x="185531" y="6488668"/>
            <a:ext cx="3856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Based on trips in 2017 and 2018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739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049"/>
          </a:xfrm>
        </p:spPr>
        <p:txBody>
          <a:bodyPr>
            <a:normAutofit/>
          </a:bodyPr>
          <a:lstStyle/>
          <a:p>
            <a:r>
              <a:rPr lang="en-US" dirty="0" smtClean="0"/>
              <a:t>Most trips last around 6 minutes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265583"/>
            <a:ext cx="10058400" cy="539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852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04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Weekdays show two peaks </a:t>
            </a:r>
            <a:r>
              <a:rPr lang="mr-IN" dirty="0" smtClean="0"/>
              <a:t>–</a:t>
            </a:r>
            <a:r>
              <a:rPr lang="en-US" dirty="0" smtClean="0"/>
              <a:t> one around 08.30 and a broader one around 18.00</a:t>
            </a:r>
            <a:endParaRPr lang="en-US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178" y="1825625"/>
            <a:ext cx="7027644" cy="4351338"/>
          </a:xfrm>
        </p:spPr>
      </p:pic>
      <p:sp>
        <p:nvSpPr>
          <p:cNvPr id="9" name="TextBox 8"/>
          <p:cNvSpPr txBox="1"/>
          <p:nvPr/>
        </p:nvSpPr>
        <p:spPr>
          <a:xfrm>
            <a:off x="185531" y="6488668"/>
            <a:ext cx="3856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Based on trips in 2017 and 2018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358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04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Weekends show a different pattern then weekdays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970" y="1825625"/>
            <a:ext cx="6994060" cy="4351338"/>
          </a:xfrm>
        </p:spPr>
      </p:pic>
      <p:sp>
        <p:nvSpPr>
          <p:cNvPr id="9" name="TextBox 8"/>
          <p:cNvSpPr txBox="1"/>
          <p:nvPr/>
        </p:nvSpPr>
        <p:spPr>
          <a:xfrm>
            <a:off x="185531" y="6488668"/>
            <a:ext cx="3856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Based on trips in 2017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091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04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Taxi: Weekends show a different pattern then weekdays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85531" y="6488668"/>
            <a:ext cx="3856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Based on trips in 2017 </a:t>
            </a:r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194" y="1825625"/>
            <a:ext cx="7001612" cy="4351338"/>
          </a:xfrm>
        </p:spPr>
      </p:pic>
    </p:spTree>
    <p:extLst>
      <p:ext uri="{BB962C8B-B14F-4D97-AF65-F5344CB8AC3E}">
        <p14:creationId xmlns:p14="http://schemas.microsoft.com/office/powerpoint/2010/main" val="1470282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049"/>
          </a:xfrm>
        </p:spPr>
        <p:txBody>
          <a:bodyPr>
            <a:normAutofit/>
          </a:bodyPr>
          <a:lstStyle/>
          <a:p>
            <a:r>
              <a:rPr lang="en-US" dirty="0" smtClean="0"/>
              <a:t>Taxi: Weekdays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85531" y="6488668"/>
            <a:ext cx="3856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Based on trips in 2017 and 2018</a:t>
            </a:r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205" y="1825625"/>
            <a:ext cx="7081589" cy="4351338"/>
          </a:xfrm>
        </p:spPr>
      </p:pic>
    </p:spTree>
    <p:extLst>
      <p:ext uri="{BB962C8B-B14F-4D97-AF65-F5344CB8AC3E}">
        <p14:creationId xmlns:p14="http://schemas.microsoft.com/office/powerpoint/2010/main" val="792454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049"/>
          </a:xfrm>
        </p:spPr>
        <p:txBody>
          <a:bodyPr>
            <a:normAutofit/>
          </a:bodyPr>
          <a:lstStyle/>
          <a:p>
            <a:r>
              <a:rPr lang="en-US" dirty="0" smtClean="0"/>
              <a:t>Weekends taxi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85531" y="6488668"/>
            <a:ext cx="3856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Based on trips in 2017</a:t>
            </a:r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113" y="1825625"/>
            <a:ext cx="6999773" cy="4351338"/>
          </a:xfrm>
        </p:spPr>
      </p:pic>
    </p:spTree>
    <p:extLst>
      <p:ext uri="{BB962C8B-B14F-4D97-AF65-F5344CB8AC3E}">
        <p14:creationId xmlns:p14="http://schemas.microsoft.com/office/powerpoint/2010/main" val="20245385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14852</TotalTime>
  <Words>316</Words>
  <Application>Microsoft Macintosh PowerPoint</Application>
  <PresentationFormat>Widescreen</PresentationFormat>
  <Paragraphs>66</Paragraphs>
  <Slides>19</Slides>
  <Notes>6</Notes>
  <HiddenSlides>7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Calibri</vt:lpstr>
      <vt:lpstr>Calibri Light</vt:lpstr>
      <vt:lpstr>Mangal</vt:lpstr>
      <vt:lpstr>Wingdings</vt:lpstr>
      <vt:lpstr>Arial</vt:lpstr>
      <vt:lpstr>Office Theme</vt:lpstr>
      <vt:lpstr>Unacast case presentation</vt:lpstr>
      <vt:lpstr>New York Citibike – Insights about areas and usage</vt:lpstr>
      <vt:lpstr>We have the same tendency across all years</vt:lpstr>
      <vt:lpstr>Weekdays show two peaks – one around 08.30 and a broader one around 18.00</vt:lpstr>
      <vt:lpstr>Males account for around 2/3 of all trips</vt:lpstr>
      <vt:lpstr>Rain does not have a great impact on demand</vt:lpstr>
      <vt:lpstr>Temperature affect usage</vt:lpstr>
      <vt:lpstr>Average number of trips per day originating in the census tract</vt:lpstr>
      <vt:lpstr>What now?</vt:lpstr>
      <vt:lpstr>A tool for estimating demand for bikes</vt:lpstr>
      <vt:lpstr>A tool for estimating demand for docks</vt:lpstr>
      <vt:lpstr>A tool for estimating net demand</vt:lpstr>
      <vt:lpstr>Most trips are taken by people in their 30's</vt:lpstr>
      <vt:lpstr>Most trips last around 6 minutes </vt:lpstr>
      <vt:lpstr>Weekdays show two peaks – one around 08.30 and a broader one around 18.00</vt:lpstr>
      <vt:lpstr>Weekends show a different pattern then weekdays</vt:lpstr>
      <vt:lpstr>Taxi: Weekends show a different pattern then weekdays</vt:lpstr>
      <vt:lpstr>Taxi: Weekdays</vt:lpstr>
      <vt:lpstr>Weekends taxi</vt:lpstr>
    </vt:vector>
  </TitlesOfParts>
  <Company/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Unacast case presentation</dc:title>
  <dc:creator>Dina Lovisa Brandrud</dc:creator>
  <cp:lastModifiedBy>Dina Lovisa Brandrud</cp:lastModifiedBy>
  <cp:revision>21</cp:revision>
  <dcterms:created xsi:type="dcterms:W3CDTF">2019-12-29T13:54:25Z</dcterms:created>
  <dcterms:modified xsi:type="dcterms:W3CDTF">2020-01-08T21:27:23Z</dcterms:modified>
</cp:coreProperties>
</file>